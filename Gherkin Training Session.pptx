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Language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Manual Testing Teams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clear, structured, human-readable test cases that everyone understands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CoE  •  CATS Team  •  Training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33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92354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Gherkin?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19786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overview, purpose &amp; origins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73352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73352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37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" y="172821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Keywords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00253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Feature, Scenario, Given / When / Then / And / But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78024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78024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426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" y="253288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Test Case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280720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structure with a live template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82696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82696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" y="333756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 Bad Examples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361188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comparisons with critique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87368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87368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" y="414223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Outline &amp; Examples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" y="441655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testing with tables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868680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868680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033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5232" y="92354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Background &amp; Doc Strings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119786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for real-world coverage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673352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673352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8379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85232" y="172821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85232" y="200253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every tester should follow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478024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478024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426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5232" y="253288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85232" y="280720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and how to fix 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282696"/>
            <a:ext cx="41605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282696"/>
            <a:ext cx="457200" cy="6949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85232" y="333756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85232" y="361188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scenario writing activity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Gherkin?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960120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73152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is a plain-English structured language used to describe software behaviour — readable by both technical and non-technical team members. It is the backbone of BDD (Behaviour-Driven Development) and frameworks like Cucumber, SpecFlow, and Playwright-BDD.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communication between Business, QA, and Dev teams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2011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23591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natural language anyone can understand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59359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directly linked to automation code (Cucumber, etc.)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359359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fixed keywords to maintain consistency across tests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Keywords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0972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822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1795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high-level functionality being tested. One file per feature.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Feature: User Login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94560"/>
            <a:ext cx="1097280" cy="34747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22402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259689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test case — one specific behaviour or flow to verify.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Scenario: Successful login with valid credentials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11880"/>
            <a:ext cx="10972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65760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Given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" y="401421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initial state / pre-conditions before the action.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" y="4434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Given the user is on the login page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7772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777240"/>
            <a:ext cx="109728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822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37176" y="11795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or event performed by the user or system.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When the user enters valid credentials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19456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94560"/>
            <a:ext cx="1097280" cy="34747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22402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37176" y="259689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outcome / assertion after the action.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37176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Then the user should be redirected to the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11880"/>
            <a:ext cx="10972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365760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And / But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37176" y="401421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a Given, When, or Then without repeating the keyword.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7176" y="4434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And the welcome message should be displayed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Gherkin Test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413308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778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7C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Account Management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8653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application is running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5237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Successful login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8529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user is on the Login page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6A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user enters valid credentials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5112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6A1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clicks the Login button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dashboard should be displayed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1696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welcome message should appear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822960"/>
            <a:ext cx="3246120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82296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85953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Block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87568" y="11155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all scenarios for this feature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481328"/>
            <a:ext cx="3246120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1481328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51790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87568" y="17739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that run before every scenario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523744"/>
            <a:ext cx="3246120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2523744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256032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Block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87568" y="2816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case = one business behaviour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2852928"/>
            <a:ext cx="3246120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2852928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288950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(Pre-cond.)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87568" y="31455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state before the action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182112"/>
            <a:ext cx="3246120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3182112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21868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(Action)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87568" y="34747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the user performs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3840480"/>
            <a:ext cx="3246120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77840" y="3840480"/>
            <a:ext cx="54864" cy="6217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387705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(Assertion)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87568" y="41330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to verify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Gherkin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B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199339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50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&amp; Specific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179576"/>
            <a:ext cx="6949440" cy="12344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34440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Login with valid credentials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the user is on the Login page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the user enters username "john.doe@bank.com"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enters password "ValidPass@123"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clicks the "Login" button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the user should be redirected to the Dashboard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the header should display "Welcome, John Doe"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543800" y="1179576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Specific data used   ✔ One clear action   ✔ Assertion is measurable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859536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BB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80360"/>
            <a:ext cx="73152" cy="1993392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53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Business-Readable (No Tech Jargon)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" y="3282696"/>
            <a:ext cx="6949440" cy="12344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37560"/>
            <a:ext cx="6766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Insufficient funds transfer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the user has an account balance of $100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the user attempts to transfer $500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an error message "Insufficient funds" should be displayed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the account balance should remain $100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543800" y="3282696"/>
            <a:ext cx="1261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No DB/API language   ✔ Readable by BA and PM   ✔ Outcome is verifiable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5262B"/>
          </a:solidFill>
          <a:ln w="12700">
            <a:solidFill>
              <a:srgbClr val="B526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Gherkin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BABA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73152" cy="1325880"/>
          </a:xfrm>
          <a:prstGeom prst="rect">
            <a:avLst/>
          </a:prstGeom>
          <a:solidFill>
            <a:srgbClr val="B5262B"/>
          </a:solidFill>
          <a:ln w="12700">
            <a:solidFill>
              <a:srgbClr val="B52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212080" cy="89611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Login works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I am on the login page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I 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it works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33872" y="841248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'I login' — how? What data?
</a:t>
            </a:r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'it works' — not measurable
</a:t>
            </a:r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expected outcome to assert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85416"/>
            <a:ext cx="8595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BABA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85416"/>
            <a:ext cx="73152" cy="1325880"/>
          </a:xfrm>
          <a:prstGeom prst="rect">
            <a:avLst/>
          </a:prstGeom>
          <a:solidFill>
            <a:srgbClr val="B5262B"/>
          </a:solidFill>
          <a:ln w="12700">
            <a:solidFill>
              <a:srgbClr val="B52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Implementation Details Exposed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5212080" cy="89611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9464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the user calls POST /api/auth/login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the request body has username and password fields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the HTTP response code is 200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the JWT token is stored in localStorage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33872" y="2276856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API endpoints in a business test
</a:t>
            </a:r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HTTP codes — not user-language
</a:t>
            </a:r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Implementation detail: JWT/localStorage
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21024"/>
            <a:ext cx="8595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BABA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21024"/>
            <a:ext cx="73152" cy="1325880"/>
          </a:xfrm>
          <a:prstGeom prst="rect">
            <a:avLst/>
          </a:prstGeom>
          <a:solidFill>
            <a:srgbClr val="B5262B"/>
          </a:solidFill>
          <a:ln w="12700">
            <a:solidFill>
              <a:srgbClr val="B52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75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Actions in One Step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5212080" cy="89611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050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Complete purchase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the user searches item, adds to cart, applies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coupon, fills shipping, enters payment and submits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33872" y="3712464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Single When step covers many actions
</a:t>
            </a:r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Impossible to pinpoint which step fails
</a:t>
            </a:r>
            <a:pPr indent="0" marL="0">
              <a:buNone/>
            </a:pPr>
            <a:r>
              <a:rPr lang="en-US" sz="1000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be reused in other scenarios
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 Bad — Side-by-Side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384048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Good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749808"/>
            <a:ext cx="4114800" cy="384048"/>
          </a:xfrm>
          <a:prstGeom prst="rect">
            <a:avLst/>
          </a:prstGeom>
          <a:solidFill>
            <a:srgbClr val="B5262B"/>
          </a:solidFill>
          <a:ln w="12700">
            <a:solidFill>
              <a:srgbClr val="B52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7498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Bad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216152"/>
            <a:ext cx="411480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89304"/>
            <a:ext cx="389534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Password reset email is sent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the user is on the Forgot Password page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the user enters "john@bank.com"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clicks "Send Reset Link"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an email should be sent to "john@bank.com"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 confirmation message should be displayed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754880" y="1216152"/>
            <a:ext cx="4114800" cy="1737360"/>
          </a:xfrm>
          <a:prstGeom prst="rect">
            <a:avLst/>
          </a:prstGeom>
          <a:solidFill>
            <a:srgbClr val="FCECEA"/>
          </a:solidFill>
          <a:ln w="12700">
            <a:solidFill>
              <a:srgbClr val="F0BA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89304"/>
            <a:ext cx="389534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Password reset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I am on the password page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I reset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it should send an email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411480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163824"/>
            <a:ext cx="389534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Search returns no results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the user is on the Search page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the user searches for "xyznotexist"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"No results found" should be displayed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the search box should remain active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754880" y="3090672"/>
            <a:ext cx="4114800" cy="1737360"/>
          </a:xfrm>
          <a:prstGeom prst="rect">
            <a:avLst/>
          </a:prstGeom>
          <a:solidFill>
            <a:srgbClr val="FCECEA"/>
          </a:solidFill>
          <a:ln w="12700">
            <a:solidFill>
              <a:srgbClr val="F0BA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3163824"/>
            <a:ext cx="389534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Test search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search is open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I search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922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results should show (or not show)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Outline — Data-Driven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Scenario Outline when you want to run the SAME scenario with MULTIPLE data sets — no duplicate scenarios needed.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16736"/>
            <a:ext cx="8503920" cy="24871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89888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Outline: Login with different user roles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the user is on the Login page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the user enters username "&lt;username&gt;"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enters password "&lt;password&gt;"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clicks the "Login" button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the user should be redirected to the "&lt;expected_page&gt;"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Examples: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username              | password       | expected_page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admin@bank.com        | AdminPass@1    | Admin Panel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teller@bank.com       | TellerPass@1   | Teller View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customer@bank.com     | CustPass@1     | Dashboard     |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913632"/>
            <a:ext cx="27249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913632"/>
            <a:ext cx="2724912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04164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&lt;angle brackets&gt;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31596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replaced from the Examples table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3913632"/>
            <a:ext cx="27249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3913632"/>
            <a:ext cx="2724912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404164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431596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test execution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3913632"/>
            <a:ext cx="272491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3913632"/>
            <a:ext cx="2724912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404164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431596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test many — saves duplication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1887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13816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and filter scenarios for selective test runs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90472"/>
            <a:ext cx="3986784" cy="8686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@smoke @regression @login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Successful Login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...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84048" y="242316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Run only @smoke tests in CI pipelines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2062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77240"/>
            <a:ext cx="1188720" cy="32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813816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16128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executed before every Scenario in a Feature file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18888" y="1490472"/>
            <a:ext cx="3986784" cy="8686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2704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 the user is logged in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the home page is loaded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818888" y="242316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Replaces repeating Given steps in every scenario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2062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1188720" cy="3200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62656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 Strings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331012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multi-line data (JSON, XML, messages) into a step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639312"/>
            <a:ext cx="3986784" cy="8686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758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the user submits the form with: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"""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"John", "role": "admin"}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"""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84048" y="457200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Useful for API body payloads or email templates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20624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26080"/>
            <a:ext cx="118872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2962656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Tables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3310128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structured table data directly in a step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18888" y="3639312"/>
            <a:ext cx="3986784" cy="8686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6758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the user updates the profile: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Field  | Value      |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Name   | John Doe   |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Email  | j@bank.com |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818888" y="4572000"/>
            <a:ext cx="3986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Great for form field testing with multiple inputs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Writing Gherkin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Business Language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79576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words the business stakeholder would use, not technical terms like API, DB, token, or endpoint.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49240" y="86868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Per Step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179576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Given/When/Then should do ONE thing. Avoid chaining multiple actions in a single step.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0756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193852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in Assertions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249424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button should be visible' is weak. Use 'The dashboard should display the message Welcome, John' instead.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84708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0756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193852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Scenario Outline for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249424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flow is tested with different data, use Scenario Outline + Examples table — not copy-pasted scenarios.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1693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1455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300837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Your Scenarios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319272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@smoke, @regression, @wip tags to organize. It enables selective execution in automation.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91693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1455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49240" y="300837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Scenario = One Behaviour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319272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should verify one specific outcome. Don't test multiple unrelated things in a single scenario.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8678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2153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4400" y="407822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 = One Feature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389120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scenarios in one .feature file. Don't mix Login and Payment scenarios in the same file.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98678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42153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49240" y="4078224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Concrete Values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389120"/>
            <a:ext cx="3456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vague placeholders with actual test data. 'Enter a date' should be 'Enter 2024-01-15'.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5262B"/>
          </a:solidFill>
          <a:ln w="12700">
            <a:solidFill>
              <a:srgbClr val="B526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0BA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Using UI navigation as test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179576"/>
            <a:ext cx="3986784" cy="786384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the user clicks on the menu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hovers over Settings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clicks Account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2039112"/>
            <a:ext cx="3986784" cy="603504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75688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When the user navigates to Account Settings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20624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77240"/>
            <a:ext cx="42062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0BA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22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Mixing Given / When / Then order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18888" y="1179576"/>
            <a:ext cx="3986784" cy="786384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16152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the page loads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I am on login page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I click submit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18888" y="2039112"/>
            <a:ext cx="3986784" cy="603504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075688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Maintain order: Given → When → Then always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20624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42062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0BA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26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Asserting in When / Acting in Then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3282696"/>
            <a:ext cx="3986784" cy="786384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9272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the error message is shown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the user clicks retry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4142232"/>
            <a:ext cx="3986784" cy="603504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178808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Then = assertion only. When = action only.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20624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80360"/>
            <a:ext cx="4206240" cy="329184"/>
          </a:xfrm>
          <a:prstGeom prst="rect">
            <a:avLst/>
          </a:prstGeom>
          <a:solidFill>
            <a:srgbClr val="FEF2F2"/>
          </a:solidFill>
          <a:ln w="12700">
            <a:solidFill>
              <a:srgbClr val="F0BA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926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Vague scenario titles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18888" y="3282696"/>
            <a:ext cx="3986784" cy="786384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319272"/>
            <a:ext cx="3822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Test the form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Login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Check payment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18888" y="4142232"/>
            <a:ext cx="3986784" cy="603504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4178808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Fix: Scenario: Submit form with missing required fields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C0CF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Gherkin scenarios for the following user stories. Use Feature, Scenario, Given, When, Then, And keywords.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6148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761488" cy="384048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536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BEGINNER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65960"/>
            <a:ext cx="254203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Story: As a customer, I want to search for a product by name so that I can quickly find what I need.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to cover: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Search finds matching results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Search with no matching results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Search with empty input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6148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761488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536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INTERMEDIATE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965960"/>
            <a:ext cx="254203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Story: As a registered user, I want to update my profile information (name, email, phone) with validation.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to cover: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Successful profile update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Invalid email format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Phone number with incorrect digits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All fields empty (boundary test)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76148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08760"/>
            <a:ext cx="2761488" cy="384048"/>
          </a:xfrm>
          <a:prstGeom prst="rect">
            <a:avLst/>
          </a:prstGeom>
          <a:solidFill>
            <a:srgbClr val="B5262B"/>
          </a:solidFill>
          <a:ln w="12700">
            <a:solidFill>
              <a:srgbClr val="B526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536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ADVANCED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1965960"/>
            <a:ext cx="254203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Story: As a bank customer, I want to transfer funds between my accounts so that I can manage my finances.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to cover: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Successful transfer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Insufficient funds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Transfer to a closed account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Use Scenario Outline for multiple amounts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15 minutes — then we'll review together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Gherkin Cheat Sheet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11680" y="113385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related scenarios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399032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14173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Pre-steps for all scenarios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682496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0078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11680" y="170078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test case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965960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842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Outline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198424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test case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249424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6771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11680" y="226771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 / setup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532888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511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11680" y="255117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/ trigger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816352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3464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11680" y="283464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1810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11680" y="3118104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of G/W/T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383280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4015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11680" y="340156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continuation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666744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68503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11680" y="36850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 for Outline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950208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96849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11680" y="396849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 filtering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233672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2519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011680" y="425196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— ignored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777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54880" y="1115568"/>
            <a:ext cx="4114800" cy="38587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1B2A4A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92040" y="1170432"/>
            <a:ext cx="38862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@tag1 @tag2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&lt;Feature name&gt;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&lt;common pre-condition&gt;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&lt;Clear, specific title&gt;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&lt;initial state&gt;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 &lt;user action&gt;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 &lt;additional action&gt;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 &lt;expected outcome&gt;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 &lt;additional assertion&gt;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 Outline: &lt;Title with variables&gt;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&lt;state with "&lt;param&gt;"&gt;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 &lt;action&gt;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 &lt;outcome with "&lt;result&gt;"&gt;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Examples: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param | result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val1  | out1  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val2  | out2   |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8503920" cy="466344"/>
          </a:xfrm>
          <a:prstGeom prst="rect">
            <a:avLst/>
          </a:prstGeom>
          <a:solidFill>
            <a:srgbClr val="243654"/>
          </a:solidFill>
          <a:ln w="12700">
            <a:solidFill>
              <a:srgbClr val="2D4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57200" cy="4663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is a communication tool — clarity first, automation second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700784"/>
            <a:ext cx="8503920" cy="466344"/>
          </a:xfrm>
          <a:prstGeom prst="rect">
            <a:avLst/>
          </a:prstGeom>
          <a:solidFill>
            <a:srgbClr val="243654"/>
          </a:solidFill>
          <a:ln w="12700">
            <a:solidFill>
              <a:srgbClr val="2D45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00784"/>
            <a:ext cx="457200" cy="4663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190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1907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Given → When → Then structure for every scenario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231136"/>
            <a:ext cx="8503920" cy="466344"/>
          </a:xfrm>
          <a:prstGeom prst="rect">
            <a:avLst/>
          </a:prstGeom>
          <a:solidFill>
            <a:srgbClr val="243654"/>
          </a:solidFill>
          <a:ln w="12700">
            <a:solidFill>
              <a:srgbClr val="2D45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31136"/>
            <a:ext cx="457200" cy="4663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494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249424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specific: use real data, real outcomes, measurable assertions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8503920" cy="466344"/>
          </a:xfrm>
          <a:prstGeom prst="rect">
            <a:avLst/>
          </a:prstGeom>
          <a:solidFill>
            <a:srgbClr val="243654"/>
          </a:solidFill>
          <a:ln w="12700">
            <a:solidFill>
              <a:srgbClr val="2D45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61488"/>
            <a:ext cx="457200" cy="4663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797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779776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vague titles, technical jargon, and multiple actions per step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8503920" cy="466344"/>
          </a:xfrm>
          <a:prstGeom prst="rect">
            <a:avLst/>
          </a:prstGeom>
          <a:solidFill>
            <a:srgbClr val="243654"/>
          </a:solidFill>
          <a:ln w="12700">
            <a:solidFill>
              <a:srgbClr val="2D45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91840"/>
            <a:ext cx="457200" cy="4663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101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31012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Scenario Outline + Examples for data-driven test coverage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8503920" cy="466344"/>
          </a:xfrm>
          <a:prstGeom prst="rect">
            <a:avLst/>
          </a:prstGeom>
          <a:solidFill>
            <a:srgbClr val="243654"/>
          </a:solidFill>
          <a:ln w="12700">
            <a:solidFill>
              <a:srgbClr val="2D45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822192"/>
            <a:ext cx="457200" cy="4663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40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84048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scenarios to support selective execution in CI/CD pipelines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0040" y="4352544"/>
            <a:ext cx="8503920" cy="466344"/>
          </a:xfrm>
          <a:prstGeom prst="rect">
            <a:avLst/>
          </a:prstGeom>
          <a:solidFill>
            <a:srgbClr val="243654"/>
          </a:solidFill>
          <a:ln w="12700">
            <a:solidFill>
              <a:srgbClr val="2D45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352544"/>
            <a:ext cx="457200" cy="4663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3708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37083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file per feature, one Scenario per behaviour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|  UAT CoE  •  CATS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Gherkin Language – Manual Testing Team Training</dc:title>
  <dc:subject>PptxGenJS Presentation</dc:subject>
  <dc:creator>PptxGenJS</dc:creator>
  <cp:lastModifiedBy>PptxGenJS</cp:lastModifiedBy>
  <cp:revision>1</cp:revision>
  <dcterms:created xsi:type="dcterms:W3CDTF">2026-05-11T10:35:57Z</dcterms:created>
  <dcterms:modified xsi:type="dcterms:W3CDTF">2026-05-11T10:35:57Z</dcterms:modified>
</cp:coreProperties>
</file>